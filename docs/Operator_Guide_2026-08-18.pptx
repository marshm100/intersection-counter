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INTERSECTION COUNTER</a:t>
            </a:r>
          </a:p>
          <a:p>
            <a:pPr algn="l">
              <a:spcAft>
                <a:spcPts val="1200"/>
              </a:spcAft>
            </a:pPr>
            <a:r>
              <a:rPr sz="3400" b="1">
                <a:solidFill>
                  <a:srgbClr val="1F2937"/>
                </a:solidFill>
                <a:latin typeface="Segoe UI"/>
              </a:rPr>
              <a:t>Operator guide — from raw traffic video to a TMC Excel workbook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74151"/>
                </a:solidFill>
                <a:latin typeface="Segoe UI"/>
              </a:rPr>
              <a:t>AI detection and tracking, trajectory-based turn classification, and built-in QA — running entirely on your machine.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No cloud · no login · local web app at http://127.0.0.1:5000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OVERVIEW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The workflow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1   </a:t>
            </a:r>
            <a:r>
              <a:rPr sz="1500" b="1">
                <a:solidFill>
                  <a:srgbClr val="1F2937"/>
                </a:solidFill>
                <a:latin typeface="Segoe UI"/>
              </a:rPr>
              <a:t>Launch — </a:t>
            </a:r>
            <a:r>
              <a:rPr sz="1500">
                <a:solidFill>
                  <a:srgbClr val="374151"/>
                </a:solidFill>
                <a:latin typeface="Segoe UI"/>
              </a:rPr>
              <a:t>py start_server.py, then open http://127.0.0.1:5000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2   </a:t>
            </a:r>
            <a:r>
              <a:rPr sz="1500" b="1">
                <a:solidFill>
                  <a:srgbClr val="1F2937"/>
                </a:solidFill>
                <a:latin typeface="Segoe UI"/>
              </a:rPr>
              <a:t>Upload videos — </a:t>
            </a:r>
            <a:r>
              <a:rPr sz="1500">
                <a:solidFill>
                  <a:srgbClr val="374151"/>
                </a:solidFill>
                <a:latin typeface="Segoe UI"/>
              </a:rPr>
              <a:t>drag the day's files in — camera, date, start time and intersection auto-fill from filenames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3   </a:t>
            </a:r>
            <a:r>
              <a:rPr sz="1500" b="1">
                <a:solidFill>
                  <a:srgbClr val="1F2937"/>
                </a:solidFill>
                <a:latin typeface="Segoe UI"/>
              </a:rPr>
              <a:t>Open the intersection card — </a:t>
            </a:r>
            <a:r>
              <a:rPr sz="1500">
                <a:solidFill>
                  <a:srgbClr val="374151"/>
                </a:solidFill>
                <a:latin typeface="Segoe UI"/>
              </a:rPr>
              <a:t>one card per intersection × date, built from the video labels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4   </a:t>
            </a:r>
            <a:r>
              <a:rPr sz="1500" b="1">
                <a:solidFill>
                  <a:srgbClr val="1F2937"/>
                </a:solidFill>
                <a:latin typeface="Segoe UI"/>
              </a:rPr>
              <a:t>Check card settings — </a:t>
            </a:r>
            <a:r>
              <a:rPr sz="1500">
                <a:solidFill>
                  <a:srgbClr val="374151"/>
                </a:solidFill>
                <a:latin typeface="Segoe UI"/>
              </a:rPr>
              <a:t>name, number of legs (3 for T-junctions), cameras, trims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5   </a:t>
            </a:r>
            <a:r>
              <a:rPr sz="1500" b="1">
                <a:solidFill>
                  <a:srgbClr val="1F2937"/>
                </a:solidFill>
                <a:latin typeface="Segoe UI"/>
              </a:rPr>
              <a:t>Calibrate each camera — </a:t>
            </a:r>
            <a:r>
              <a:rPr sz="1500">
                <a:solidFill>
                  <a:srgbClr val="374151"/>
                </a:solidFill>
                <a:latin typeface="Segoe UI"/>
              </a:rPr>
              <a:t>legs → channels → road paths, then Save calibration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6   </a:t>
            </a:r>
            <a:r>
              <a:rPr sz="1500" b="1">
                <a:solidFill>
                  <a:srgbClr val="1F2937"/>
                </a:solidFill>
                <a:latin typeface="Segoe UI"/>
              </a:rPr>
              <a:t>Set clip trims — </a:t>
            </a:r>
            <a:r>
              <a:rPr sz="1500">
                <a:solidFill>
                  <a:srgbClr val="374151"/>
                </a:solidFill>
                <a:latin typeface="Segoe UI"/>
              </a:rPr>
              <a:t>the wall-clock windows to count (e.g. 07:00–09:00)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7   </a:t>
            </a:r>
            <a:r>
              <a:rPr sz="1500" b="1">
                <a:solidFill>
                  <a:srgbClr val="1F2937"/>
                </a:solidFill>
                <a:latin typeface="Segoe UI"/>
              </a:rPr>
              <a:t>Confirm &amp; process — </a:t>
            </a:r>
            <a:r>
              <a:rPr sz="1500">
                <a:solidFill>
                  <a:srgbClr val="374151"/>
                </a:solidFill>
                <a:latin typeface="Segoe UI"/>
              </a:rPr>
              <a:t>pick a mode and let it run — full days usually run overnight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8   </a:t>
            </a:r>
            <a:r>
              <a:rPr sz="1500" b="1">
                <a:solidFill>
                  <a:srgbClr val="1F2937"/>
                </a:solidFill>
                <a:latin typeface="Segoe UI"/>
              </a:rPr>
              <a:t>Work the QA queue — </a:t>
            </a:r>
            <a:r>
              <a:rPr sz="1500">
                <a:solidFill>
                  <a:srgbClr val="374151"/>
                </a:solidFill>
                <a:latin typeface="Segoe UI"/>
              </a:rPr>
              <a:t>corridor checks, spot count, and the flag review cards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9   </a:t>
            </a:r>
            <a:r>
              <a:rPr sz="1500" b="1">
                <a:solidFill>
                  <a:srgbClr val="1F2937"/>
                </a:solidFill>
                <a:latin typeface="Segoe UI"/>
              </a:rPr>
              <a:t>Export — </a:t>
            </a:r>
            <a:r>
              <a:rPr sz="1500">
                <a:solidFill>
                  <a:srgbClr val="374151"/>
                </a:solidFill>
                <a:latin typeface="Segoe UI"/>
              </a:rPr>
              <a:t>Excel / PDF buttons on the intersection card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1 · LAUNCH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Start the server and pick 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Getting in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Run  py start_server.py  in the install folder, then browse to http://127.0.0.1:5000 (this exact port).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Every project is a site visit: create one per study, name it after the corridor or client.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Status chips tell you where each project stands — created, idle, complete, interrupted, needs calibration, needs video.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“Start All Calibrated” batch-runs every project that is ready to go.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⚠  Deleting a project deletes its data — there is no undo.</a:t>
            </a:r>
          </a:p>
        </p:txBody>
      </p:sp>
      <p:pic>
        <p:nvPicPr>
          <p:cNvPr id="4" name="Picture 3" descr="guide_01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The projects list. Open resumes exactly where you left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2 · VIDEOS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Upload the day's footage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One drag-and-drop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Drop all cameras' files at once; camera number, date, start time and intersection name auto-fill from the filename.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Confidence column shows how sure the parser is — verify anything under 100% and fix the fields inline.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Intersection field is what groups videos into cards — same spelling = same card.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Renamed a label after cards were built? Click “Re-sync labels”.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⚠  Set the true wall-clock start time — every trim and count bin hangs off it.</a:t>
            </a:r>
          </a:p>
        </p:txBody>
      </p:sp>
      <p:pic>
        <p:nvPicPr>
          <p:cNvPr id="4" name="Picture 3" descr="guide_02_video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Five 24-hour cameras parsed straight from their filenames.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3 · INTERSECTIONS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One card per intersection ×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The card is the unit of work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Each card bundles that intersection's cameras, calibration, trims, QA and exports for one study date.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Open drills into the card; Excel and PDF export straight from this list once processing is done.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Legs count on the card is a quick sanity check — a T-junction should say 3.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Multiple cameras on one intersection? They all live inside the same card and de-duplicate at count time.</a:t>
            </a:r>
          </a:p>
        </p:txBody>
      </p:sp>
      <p:pic>
        <p:nvPicPr>
          <p:cNvPr id="4" name="Picture 3" descr="guide_03_intersection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The five Belt Line Rd cards for the 2026-05-12 study.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4 · CARD SETTINGS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Check the basics before calibrating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Thirty seconds of setup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Confirm the intersection name and the number of legs — 4 is the default; T-junctions use 3.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summary shows how many cameras are configured and how many trims are defined.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“Two-pass readiness” lists every camera × trim window and whether each pass is ready, stale, or missing.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“Confirm &amp; process” launches everything that panel says will run — check it reads the way you expect first.</a:t>
            </a:r>
          </a:p>
        </p:txBody>
      </p:sp>
      <p:pic>
        <p:nvPicPr>
          <p:cNvPr id="4" name="Picture 3" descr="guide_04_card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Readiness per window: pass-1 ready, pass-2 will re-run.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5 · CAMERAS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Each camera gets its own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Per-camera geometry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Every camera sees the intersection from its own angle, so legs and channels are drawn per camera.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✓ Configured means geometry exists; Recalibrate opens the editor to view or adjust it.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footage rating stars (below) say whether this video supports the count guarantee — 1080p-class footage earns the full per-movement guarantee.</a:t>
            </a:r>
          </a:p>
        </p:txBody>
      </p:sp>
      <p:pic>
        <p:nvPicPr>
          <p:cNvPr id="4" name="Picture 3" descr="guide_05_camera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One camera on this card, already calibrated.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5A · CALIBRATION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Legs — let auto-calibration do the first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Start from the proposal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Auto-calibration watches real trajectories and proposes legs and road paths — Preview it, then Apply or Reject.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Place all legs (4/4 here): each leg is an approach mouth with its compass direction (NB/SB/EB/WB).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Scrub the video timeline to a clear, busy moment before judging the geometry.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layers panel toggles each approach's Legs / Paths / Channels overlays on and off while you work.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⚠  Get the cardinal labels right — every movement name (NB left, EB through…) derives from them.</a:t>
            </a:r>
          </a:p>
        </p:txBody>
      </p:sp>
      <p:pic>
        <p:nvPicPr>
          <p:cNvPr id="4" name="Picture 3" descr="guide_06_calibration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The calibration editor: wizard steps on the right, layer toggles on the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5B · CALIBRATION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Channels — sketch how traffic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Guidelines, not fences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A channel is a movement's corridor: click entry → bend → exit; the ends snap to the nearest leg.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Draw THROUGHS too, not just turns — the classifier needs the straight movements as context.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Channels are general layout guidance for the classifier — cars share mouths and drift across lanes; the trajectory over time decides the turn, not the lane markings.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16 channels drawn here = all movements incl. U-turns at a 4-leg intersection.</a:t>
            </a:r>
          </a:p>
        </p:txBody>
      </p:sp>
      <p:pic>
        <p:nvPicPr>
          <p:cNvPr id="4" name="Picture 3" descr="guide_07_calibration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All 16 movement corridors overlaid on the frame.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5C · CALIBRATION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Road paths — then save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The observed geometry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Road paths are the machine-derived center-lines from real observed journeys (10 on this camera) — review them against the video.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A missing path for a real movement is worth fixing: draw it, or re-run auto-calibration on a busier stretch of video.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When the footer says all legs are placed, click Save calibration — nothing persists until you do.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⚠  Leaving without saving discards edits — deliberate exits are safe, accidental ones lose work.</a:t>
            </a:r>
          </a:p>
        </p:txBody>
      </p:sp>
      <p:pic>
        <p:nvPicPr>
          <p:cNvPr id="4" name="Picture 3" descr="guide_08_calibration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Derived road paths for every approach, ready to save.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6 · TRIMS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Choose the windows to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Wall-clock windows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Each trim is a HH:MM:SS window processed across ALL cameras on the card — classic peak periods here: 07–09, 11–13, 16–18.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Coverage tells you whether the uploaded footage actually spans the window (“Fully covered”).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Per-camera coverage below shows each camera's true recording span as a cross-check.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Fewer, tighter trims = faster processing; a full-day card is an overnight run.</a:t>
            </a:r>
          </a:p>
        </p:txBody>
      </p:sp>
      <p:pic>
        <p:nvPicPr>
          <p:cNvPr id="4" name="Picture 3" descr="guide_09_clip_tr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Three two-hour study windows, all fully covered by the footage.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7 · PROCESS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Confirm &amp; process, then leave it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Pick a mode and go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Balanced is the recommended default for full-day clips; Accurate trades speed for the hardest sites; Fast is for previews.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Click “Confirm &amp; process” on the card — the Processing tab tracks every intersection with live status (refreshes every 2 s).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Single-frame glitches never stop a run; real errors surface on the status card with the reason.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⚠  While a run is active, don't edit the app's files or restart the server — the dev auto-reload kills in-flight jobs.</a:t>
            </a:r>
          </a:p>
        </p:txBody>
      </p:sp>
      <p:pic>
        <p:nvPicPr>
          <p:cNvPr id="4" name="Picture 3" descr="guide_12_processing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Project-level processing status: four complete, one surfaced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8 · QA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The built-in checks run before you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Trust, then verify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Corridor flow conservation: vehicles leaving one intersection should arrive at the next — big gaps implicate counting at one end (or heavy mid-block access).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Reverse-movement balance is informational: directional peaking in a peak window is normal.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Manual spot count: hand-count a stretch of raw video and compare — the zero-ground-truth accuracy estimate. Certifying ±10% needs roughly 850 vehicles (20–40 min at a busy site).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⚠  A hard FAIL needs investigation before export — flags alone won't clear it.</a:t>
            </a:r>
          </a:p>
        </p:txBody>
      </p:sp>
      <p:pic>
        <p:nvPicPr>
          <p:cNvPr id="4" name="Picture 3" descr="guide_10_qa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The QA tab: conservation table with per-link OK / WARN / FAIL.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8A · REVIEW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Work the flag queue with the keyboard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Cards, not spreadsheets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Each card is one question — “is this movement really this small?” — with the exact video interval to scrub.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Keyboard-first: Enter accepts, A adds a missed vehicle, D dismisses (real low volume), → skips, Z undoes anything.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sidebar keeps score: running total, estimated missed vehicles, and what's left to reach a clean queue.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machine already closed everything it could on its own (1,648 items here) — you only see what needs human eyes.</a:t>
            </a:r>
          </a:p>
        </p:txBody>
      </p:sp>
      <p:pic>
        <p:nvPicPr>
          <p:cNvPr id="4" name="Picture 3" descr="guide_11_flag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Card 1 of 286, with the live-count sidebar and the gate status.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STEP 9 · EXPORT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Excel and PDF, straight from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39776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The deliverable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Excel and PDF buttons sit on each intersection card — export once the QA gate is clean.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The workbook is a standard TMC layout: per-bin turning counts as hard-coded integers — no formulas, safe to hand to any client tool.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Every export reflects the current reviewed state — re-export any time after further review.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374151"/>
                </a:solidFill>
                <a:latin typeface="Segoe UI"/>
              </a:rPr>
              <a:t>•  PDF gives the same counts in a shareable report format.</a:t>
            </a:r>
          </a:p>
        </p:txBody>
      </p:sp>
      <p:pic>
        <p:nvPicPr>
          <p:cNvPr id="4" name="Picture 3" descr="guide_03_intersection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81328"/>
            <a:ext cx="7406640" cy="4166235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617720" y="57150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Excel / PDF export lives on the intersection cards.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REFERENCE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Tips, traps, and quick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Launching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The app lives at http://127.0.0.1:5000 — that port only. The optional desktop window is  python run.pyw.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Everything runs locally: no internet needed after install, and footage never leaves the machine.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Calibration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T-junction? Set legs to 3 on the card first — the editor and movement names follow it.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Channels are guidance, not fences: draw every movement incl. throughs, and trust the trajectory to decide the turn.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Auto-calibration improves with busier video — scrub to a busy period before running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Processing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Full-day footage in Balanced mode is an overnight run — start it at the end of the day.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Don't edit application files or restart the server mid-run; the auto-reloader kills in-flight jobs.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QA &amp; export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Work flags with the keyboard — it is 3–4× faster than the mouse.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Record a spot count on every study: it is your accuracy evidence when there is no ground truth.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74151"/>
                </a:solidFill>
                <a:latin typeface="Segoe UI"/>
              </a:rPr>
              <a:t>•  Export is per intersection card; re-export freely after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