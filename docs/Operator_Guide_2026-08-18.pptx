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INTERSECTION COUNTER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1F2937"/>
                </a:solidFill>
                <a:latin typeface="Segoe UI"/>
              </a:rPr>
              <a:t>Operator guide — from raw traffic video to a TMC Excel workbook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374151"/>
                </a:solidFill>
                <a:latin typeface="Segoe UI"/>
              </a:rPr>
              <a:t>AI detection and tracking, trajectory-based turn classification, and built-in QA — running entirely on your machine. Slides marked ▶ carry animated walkthroughs (they play in slideshow mode).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No cloud · no login · local web app at http://127.0.0.1:5000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OVERVIEW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workflow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1   </a:t>
            </a:r>
            <a:r>
              <a:rPr sz="1500" b="1">
                <a:solidFill>
                  <a:srgbClr val="1F2937"/>
                </a:solidFill>
                <a:latin typeface="Segoe UI"/>
              </a:rPr>
              <a:t>Launch — </a:t>
            </a:r>
            <a:r>
              <a:rPr sz="1500">
                <a:solidFill>
                  <a:srgbClr val="374151"/>
                </a:solidFill>
                <a:latin typeface="Segoe UI"/>
              </a:rPr>
              <a:t>py start_server.py, then open http://127.0.0.1:5000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2   </a:t>
            </a:r>
            <a:r>
              <a:rPr sz="1500" b="1">
                <a:solidFill>
                  <a:srgbClr val="1F2937"/>
                </a:solidFill>
                <a:latin typeface="Segoe UI"/>
              </a:rPr>
              <a:t>Upload videos — </a:t>
            </a:r>
            <a:r>
              <a:rPr sz="1500">
                <a:solidFill>
                  <a:srgbClr val="374151"/>
                </a:solidFill>
                <a:latin typeface="Segoe UI"/>
              </a:rPr>
              <a:t>drag the day's files in — camera, date, start time and intersection auto-fill from filenames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3   </a:t>
            </a:r>
            <a:r>
              <a:rPr sz="1500" b="1">
                <a:solidFill>
                  <a:srgbClr val="1F2937"/>
                </a:solidFill>
                <a:latin typeface="Segoe UI"/>
              </a:rPr>
              <a:t>Open the intersection card — </a:t>
            </a:r>
            <a:r>
              <a:rPr sz="1500">
                <a:solidFill>
                  <a:srgbClr val="374151"/>
                </a:solidFill>
                <a:latin typeface="Segoe UI"/>
              </a:rPr>
              <a:t>one card per intersection × date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4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Check card settings — </a:t>
            </a:r>
            <a:r>
              <a:rPr sz="1500">
                <a:solidFill>
                  <a:srgbClr val="374151"/>
                </a:solidFill>
                <a:latin typeface="Segoe UI"/>
              </a:rPr>
              <a:t>name, number of legs (3 for T-junctions), cameras, trims, two-pass readiness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5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Calibrate each camera — </a:t>
            </a:r>
            <a:r>
              <a:rPr sz="1500">
                <a:solidFill>
                  <a:srgbClr val="374151"/>
                </a:solidFill>
                <a:latin typeface="Segoe UI"/>
              </a:rPr>
              <a:t>legs → channels → road paths → Save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6   </a:t>
            </a:r>
            <a:r>
              <a:rPr sz="1500" b="1">
                <a:solidFill>
                  <a:srgbClr val="1F2937"/>
                </a:solidFill>
                <a:latin typeface="Segoe UI"/>
              </a:rPr>
              <a:t>Set clip trims — </a:t>
            </a:r>
            <a:r>
              <a:rPr sz="1500">
                <a:solidFill>
                  <a:srgbClr val="374151"/>
                </a:solidFill>
                <a:latin typeface="Segoe UI"/>
              </a:rPr>
              <a:t>the wall-clock windows to count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7   </a:t>
            </a:r>
            <a:r>
              <a:rPr sz="1500" b="1">
                <a:solidFill>
                  <a:srgbClr val="1F2937"/>
                </a:solidFill>
                <a:latin typeface="Segoe UI"/>
              </a:rPr>
              <a:t>Confirm &amp; process — </a:t>
            </a:r>
            <a:r>
              <a:rPr sz="1500">
                <a:solidFill>
                  <a:srgbClr val="374151"/>
                </a:solidFill>
                <a:latin typeface="Segoe UI"/>
              </a:rPr>
              <a:t>pick a mode; full days run overnight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8   </a:t>
            </a:r>
            <a:r>
              <a:rPr sz="1500" b="1">
                <a:solidFill>
                  <a:srgbClr val="1F2937"/>
                </a:solidFill>
                <a:latin typeface="Segoe UI"/>
              </a:rPr>
              <a:t>Work the QA queue — </a:t>
            </a:r>
            <a:r>
              <a:rPr sz="1500">
                <a:solidFill>
                  <a:srgbClr val="374151"/>
                </a:solidFill>
                <a:latin typeface="Segoe UI"/>
              </a:rPr>
              <a:t>corridor checks, spot count, flag cards — keyboard-first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9   </a:t>
            </a:r>
            <a:r>
              <a:rPr sz="1500" b="1">
                <a:solidFill>
                  <a:srgbClr val="1F2937"/>
                </a:solidFill>
                <a:latin typeface="Segoe UI"/>
              </a:rPr>
              <a:t>Export — </a:t>
            </a:r>
            <a:r>
              <a:rPr sz="1500">
                <a:solidFill>
                  <a:srgbClr val="374151"/>
                </a:solidFill>
                <a:latin typeface="Segoe UI"/>
              </a:rPr>
              <a:t>Excel / PDF from the card; a 5-sheet TMC workbook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1 · LAUNCH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Start the server and pick a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Getting in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Run  py start_server.py  in the install folder, then browse to http://127.0.0.1:5000 (this exact port).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project is a site visit: one per study, named after the corridor or client.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Status chips: created, idle, complete, interrupted, needs calibration, needs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“Start All Calibrated” batch-runs every ready project.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Deleting a project deletes its data — there is no undo.</a:t>
            </a:r>
          </a:p>
        </p:txBody>
      </p:sp>
      <p:pic>
        <p:nvPicPr>
          <p:cNvPr id="4" name="Picture 3" descr="guide_01_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projects list. Open resumes exactly where you left 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1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From the projects list into a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Four clicks to the work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the project → it lands on Videos.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Switch to the Intersections tab.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the card you're working — everything for that intersection × date lives inside.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animation plays in slideshow mode; the orange ring marks each click.</a:t>
            </a:r>
          </a:p>
        </p:txBody>
      </p:sp>
      <p:pic>
        <p:nvPicPr>
          <p:cNvPr id="4" name="Picture 3" descr="gif_01_open_car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Projects → project → Intersections tab → card.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2 · VIDEOS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Upload the day's footage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One drag-and-drop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Drop all cameras' files at once; camera, date, start time and intersection auto-fill from the filename.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Confidence under 100%? Verify and fix the fields inline.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Intersection field groups videos into cards — same spelling, same card.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Renamed a label later? “Re-sync labels”.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Set the true wall-clock start time — every trim and count bin hangs off it.</a:t>
            </a:r>
          </a:p>
        </p:txBody>
      </p:sp>
      <p:pic>
        <p:nvPicPr>
          <p:cNvPr id="4" name="Picture 3" descr="guide_02_video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Five 24-hour cameras parsed straight from their filenames.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3 · INTERSECTIONS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One card per intersection × 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card is the unit of work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card bundles that intersection's cameras, calibration, trims, QA and exports for one study date.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Open drills in; Excel / PDF export straight from this list once processing is done.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Legs count is a sanity check — a T-junction should say 3.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Multiple cameras on one intersection live in the same card and de-duplicate at count time.</a:t>
            </a:r>
          </a:p>
        </p:txBody>
      </p:sp>
      <p:pic>
        <p:nvPicPr>
          <p:cNvPr id="4" name="Picture 3" descr="guide_03_intersection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five Belt Line Rd cards for the 2026-05-12 study.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4 · CARD SETTINGS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Check the basics; learn the readiness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Thirty seconds of setup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Confirm the name and the number of legs (4 default; T-junctions 3).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“Two-pass readiness” lists every camera × trim window: pass-1 is detection + tracking (the slow overnight part); pass-2 is classification + merge (fast, re-runnable).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“pass-2 stale — will re-run” just means classification will refresh on the next run — pass-1 work is preserved.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“Confirm &amp; process” launches exactly what the panel lists — read it first.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The ▶ card-tabs animation: Settings → Cameras → Clip trim → QA.</a:t>
            </a:r>
          </a:p>
        </p:txBody>
      </p:sp>
      <p:pic>
        <p:nvPicPr>
          <p:cNvPr id="4" name="Picture 3" descr="gif_02_card_tab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The four sub-tabs of an intersection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 · CAMERAS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Each camera gets its own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Per-camera geometry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camera sees the intersection from its own angle; legs and channels are drawn per camera.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✓ Configured = geometry exists; Recalibrate opens the editor.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Footage rating stars say whether this video supports the count guarantee — 1080p-class earns the full per-movement guarantee.</a:t>
            </a:r>
          </a:p>
        </p:txBody>
      </p:sp>
      <p:pic>
        <p:nvPicPr>
          <p:cNvPr id="4" name="Picture 3" descr="guide_05_camera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One camera on this card, already calibrated.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5A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Legs — let auto-calibration make the first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Start from the proposal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Auto-calibration watches real trajectories and proposes legs and road paths — Preview, then Apply or Reject.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leg is an approach mouth with its compass direction.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Scrub to a busy moment before judging geometry.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Get the cardinal labels right — every movement name (NB left, EB through…) derives from them.</a:t>
            </a:r>
          </a:p>
        </p:txBody>
      </p:sp>
      <p:pic>
        <p:nvPicPr>
          <p:cNvPr id="4" name="Picture 3" descr="guide_06_calibration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calibration editor: wizard right, layer toggles left.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5A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Open the editor, light the layers, scrub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editor tour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Recalibrate opens the editor on the calibration frame.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layers panel lights Legs / Paths / Channels overlays per approach — or all at once.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Drag the timeline scrubber to any wall-clock moment; the frame refreshes — judge geometry against BUSY video, not an empty midnight frame.</a:t>
            </a:r>
          </a:p>
        </p:txBody>
      </p:sp>
      <p:pic>
        <p:nvPicPr>
          <p:cNvPr id="4" name="Picture 3" descr="gif_03_calibr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Recalibrate → overlays on → scrubbed to 08:00.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5B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Channels — sketch how traffic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Guidelines, not fences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 channel is a movement's corridor: click entry → bend → exit; ends snap to the nearest leg.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Draw THROUGHS too, not just turns.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Channels are layout guidance — cars share mouths and drift across lanes; the trajectory over time decides the turn.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16 channels = all movements incl. U-turns at a 4-leg intersection.</a:t>
            </a:r>
          </a:p>
        </p:txBody>
      </p:sp>
      <p:pic>
        <p:nvPicPr>
          <p:cNvPr id="4" name="Picture 3" descr="guide_07_calibration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All 16 movement corridors overlaid on the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5B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Drawing a channel, click by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Three clicks minimum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“+ New channel” arms drawing.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Click the ENTRY at the mouth the movement uses, a BEND wherever the path curves (as many as needed), then the EXIT.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Both ends snap to the nearest leg; the list shows the new row immediately.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Nothing persists until “Save channels” — leaving the editor discards the draft (this demo was discarded).</a:t>
            </a:r>
          </a:p>
        </p:txBody>
      </p:sp>
      <p:pic>
        <p:nvPicPr>
          <p:cNvPr id="4" name="Picture 3" descr="gif_04_draw_channe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Entry → bend → exit; the draft appears in the channel list.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5C · CALIBRATION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Road paths — then save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observed geometry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Road paths are machine-derived center-lines from real observed journeys — review them against the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 missing path for a real movement is worth fixing: draw it, or re-run auto-calibration on busier video.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Click Save calibration — nothing persists until you do.</a:t>
            </a:r>
          </a:p>
        </p:txBody>
      </p:sp>
      <p:pic>
        <p:nvPicPr>
          <p:cNvPr id="4" name="Picture 3" descr="guide_08_calibration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Derived road paths for every approach, ready to save.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6 · TRIMS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Choose the windows to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Wall-clock windows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trim is a HH:MM:SS window processed across ALL cameras on the card — classic peaks here: 07–09, 11–13, 16–18.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Coverage confirms footage actually spans the window.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Per-camera coverage shows each camera's true recording span.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Fewer, tighter trims = faster processing; full-day = overnight.</a:t>
            </a:r>
          </a:p>
        </p:txBody>
      </p:sp>
      <p:pic>
        <p:nvPicPr>
          <p:cNvPr id="4" name="Picture 3" descr="guide_09_clip_tr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Three two-hour study windows, all fully covered.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7 · PROCESS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Confirm &amp; process, then leave it alone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Pick a mode and go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Balanced is the default for full-day clips; Accurate trades speed for the hardest sites; Fast is for previews.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Processing tab tracks every intersection live (2 s refresh).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Single-frame glitches never stop a run; real errors surface on the status card with the reason.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While a run is active, don't edit the app's files or restart the server — the dev auto-reload kills in-flight jobs.</a:t>
            </a:r>
          </a:p>
        </p:txBody>
      </p:sp>
      <p:pic>
        <p:nvPicPr>
          <p:cNvPr id="4" name="Picture 3" descr="guide_12_processing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Project-level status: four complete, one surfaced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7A · STATUS CARDS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Reading a surfaced error (the one on screen)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251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Status = the LAST run's result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Each card stores its most recent run's outcome and timestamp — an Error stays displayed until the next run replaces 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This one: “no such column: origin_posterior_json”, dated 2026-07-31 — that run raced an app update (the database column now exists). It is stale, not live.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Counts already produced for this intersection are unaffected — the error describes the failed run, not the data.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Fix: simply run “Confirm &amp; process” again when you next process this card; the fresh run replaces the status. If the same error recurs on a current version, report it — that means the project file predates the app.</a:t>
            </a:r>
          </a:p>
        </p:txBody>
      </p:sp>
      <p:pic>
        <p:nvPicPr>
          <p:cNvPr id="4" name="Picture 3" descr="zoom_processing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81328"/>
            <a:ext cx="6949440" cy="1116874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892040" y="58064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Zoom of the error card: the reason and the Open shortcut.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 · QA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built-in checks run before you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Trust, then verify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Corridor flow conservation: vehicles leaving one intersection should arrive at the next — big gaps implicate counting at one end, or heavy mid-block access.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Reverse-movement balance is informational in peak windows.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Manual spot count: hand-count a stretch of raw video and compare — the zero-ground-truth accuracy estimate. Certifying ±10% needs ~850 vehicles (20–40 min busy).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A hard FAIL needs investigation before export — work the QA tab for the implicated link; flags alone won't clear it.</a:t>
            </a:r>
          </a:p>
        </p:txBody>
      </p:sp>
      <p:pic>
        <p:nvPicPr>
          <p:cNvPr id="4" name="Picture 3" descr="guide_10_qa_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QA tab: conservation with per-link OK / WARN / FAIL.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8A · THE FLAG QUEUE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Anatomy of a review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One card = one question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Header: the question (“Is this movement really this small?”, “Did the system miss vehicles here?”).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Evidence line: exactly why it was flagged, with numbers — which approach, which 15-min bin, how big the suspected gap is.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Interval player: the raw video for that exact window — scrub it and watch the flagged approach.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Actions: A add-missed · Done · D dismiss · → skip.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machine already closed 1,648 items on its own (out-of-window, redundant, tiny holes) — you only see what needs human eyes.</a:t>
            </a:r>
          </a:p>
        </p:txBody>
      </p:sp>
      <p:pic>
        <p:nvPicPr>
          <p:cNvPr id="4" name="Picture 3" descr="guide_11_flag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Card 1 of 286 with the live-count sidebar and gate panel.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8A · CARD TYPES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The three card families and the right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Card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7560" y="1417320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What it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417320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Your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1417320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Resolve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Coverage hole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“Is this movement really this small?”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84248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movement has a drawn channel but little or no counted volume — either genuinely tiny, or the applied bank missed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84248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Scrub the interval; decide whether traffic is really that light.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984248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D Dismiss if real low volume · A add any missed vehicles · rebuild bank if systemic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65576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Interval undercount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“Did the system miss vehicles here?”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465576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corridor-conservation gap localized to one 15-min bin (e.g. “Sbound short by 176 this bin”).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465576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Watch the flagged approach in that window; add what the tracker missed.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65576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A Add missed for each vehicle · Enter when the bin looks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2697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Echo suspect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Segoe UI"/>
              </a:rPr>
              <a:t>“counts repeat the same vehicle”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946904"/>
            <a:ext cx="3246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Track-fragment echoes make a movement read HIGHER than reality (e.g. ~101 repeats this day).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946904"/>
            <a:ext cx="2514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Review the failing bins; remove duplicates.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946904"/>
            <a:ext cx="3063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Segoe UI"/>
              </a:rPr>
              <a:t>Del reject the duplicate events · Enter when 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Skip (→) defers a card without resolving — it stays in the queue. Z undoes any resolution. “.” jumps to the next card in the same group; B resolves the whole group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8B · ▶ IN MOTION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Working the queue, keyboard-first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rhythm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Read the question and the evidence line.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Scrub the interval — watch the flagged approach only.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Enter accepts (“looks counted”) · A adds a missed vehicle · D dismisses · → skips for later.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queue counter drops as you resolve; Z undoes anything, immediately.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This demo resolved a card (286 → 285) and undid it (back to 286) — the database was verified unchanged.</a:t>
            </a:r>
          </a:p>
        </p:txBody>
      </p:sp>
      <p:pic>
        <p:nvPicPr>
          <p:cNvPr id="4" name="Picture 3" descr="gif_05_flag_review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Three cards, a scrub, a resolve, and the undo.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8C · THE GATE PANEL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What flags can clear — and what they can't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6400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sidebar keeps score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Live count: the running total as you work.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Remaining work: cards left and their estimated vehicle impact (here: ~4,027 veh to a clean queue).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Gate list: each export check with its state and the route to fix it.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B45309"/>
                </a:solidFill>
                <a:latin typeface="Segoe UI"/>
              </a:rPr>
              <a:t>⚠  corridor consistency FAIL points at cross-intersection conservation — investigate on the QA tab (spot count the implicated link); working flag cards will NOT clear it.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review flags REVIEW clears exactly by working the cards below.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“Rebuild queue” re-derives the cards after big changes.</a:t>
            </a:r>
          </a:p>
        </p:txBody>
      </p:sp>
      <p:pic>
        <p:nvPicPr>
          <p:cNvPr id="4" name="Picture 3" descr="zoom_flag_side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81328"/>
            <a:ext cx="4206240" cy="5552237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315200" y="5806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The gate panel: FAIL / INFO / REVIEW with fix routes.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9 · ▶ EXPORT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Excel and PDF, straight from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The deliverable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Excel / PDF buttons sit on each intersection card — export once the QA gate is clean.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The file downloads as TMC_&lt;intersection&gt;_&lt;date&gt;.xlsx.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Every export reflects the current reviewed state — re-export freely after more review.</a:t>
            </a:r>
          </a:p>
        </p:txBody>
      </p:sp>
      <p:pic>
        <p:nvPicPr>
          <p:cNvPr id="4" name="Picture 3" descr="gif_06_expor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791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▶ One click; the workbook lands in Downloads.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STEP 9A · THE WORKBOOK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What's inside the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39776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Five sheets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Contents — what each sheet holds.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Summary — a TMC overview for the study date.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TMV Table — per-approach L / T / R / U totals with Total In and Total Out (shown right: the real NorthwestDr export).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TMV Data — every 15-min bin × approach × movement × vehicle class (Lights / Mediums / Articulated), 374 rows here.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374151"/>
                </a:solidFill>
                <a:latin typeface="Segoe UI"/>
              </a:rPr>
              <a:t>•  Raw Events — the event-level base data.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E7A4E"/>
                </a:solidFill>
                <a:latin typeface="Segoe UI"/>
              </a:rPr>
              <a:t>Every figure is a hard-coded integer — no formulas — safe for any client tool.</a:t>
            </a:r>
          </a:p>
        </p:txBody>
      </p:sp>
      <p:pic>
        <p:nvPicPr>
          <p:cNvPr id="4" name="Picture 3" descr="g6_02_work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81328"/>
            <a:ext cx="7406640" cy="416623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617720" y="58064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Rendered from the actual exported workbook.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REFERENCE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Tips, traps, and the keyboard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Launching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http://127.0.0.1:5000 — that port only. Desktop window: python run.pyw.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Everything runs locally; footage never leaves the machine.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Calibration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T-junction? Set legs to 3 on the card first.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Draw every movement incl. throughs; channels guide, trajectories decide.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Auto-calibration improves with busier video.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Nothing persists until Save — deliberate exits discard drafts.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Processing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Full-day + Balanced = overnight; start it at end of day.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Don't edit app files or restart the server mid-run.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An Error status is the LAST run's result — a fresh run replaces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Review keyboard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Enter — accept (“done, looks counted”)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A — add a missed vehicle    ·    D — dismiss (real low volume)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Del — reject a duplicate/false event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1–4 — set movement    ·    Shift+1–4 — batch movement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→ — skip    ·    . — next in group    ·    B — resolve group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Z — undo anything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QA &amp; export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Corridor FAIL: investigate on the QA tab — flags won't clear it.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Record a spot count on every study (~850 veh certifies ±10%).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74151"/>
                </a:solidFill>
                <a:latin typeface="Segoe UI"/>
              </a:rPr>
              <a:t>•  Export per card; re-export freely after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